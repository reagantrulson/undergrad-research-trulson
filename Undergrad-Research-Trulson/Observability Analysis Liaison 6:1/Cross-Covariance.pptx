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Urbanist Medium"/>
      <p:regular r:id="rId17"/>
      <p:bold r:id="rId18"/>
      <p:italic r:id="rId19"/>
      <p:boldItalic r:id="rId20"/>
    </p:embeddedFont>
    <p:embeddedFont>
      <p:font typeface="Urbanist SemiBold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Italic.fntdata"/><Relationship Id="rId22" Type="http://schemas.openxmlformats.org/officeDocument/2006/relationships/font" Target="fonts/UrbanistSemiBold-bold.fntdata"/><Relationship Id="rId21" Type="http://schemas.openxmlformats.org/officeDocument/2006/relationships/font" Target="fonts/UrbanistSemiBold-regular.fntdata"/><Relationship Id="rId24" Type="http://schemas.openxmlformats.org/officeDocument/2006/relationships/font" Target="fonts/UrbanistSemiBold-boldItalic.fntdata"/><Relationship Id="rId23" Type="http://schemas.openxmlformats.org/officeDocument/2006/relationships/font" Target="fonts/Urbanist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Medium-regular.fntdata"/><Relationship Id="rId16" Type="http://schemas.openxmlformats.org/officeDocument/2006/relationships/slide" Target="slides/slide11.xml"/><Relationship Id="rId19" Type="http://schemas.openxmlformats.org/officeDocument/2006/relationships/font" Target="fonts/UrbanistMedium-italic.fntdata"/><Relationship Id="rId18" Type="http://schemas.openxmlformats.org/officeDocument/2006/relationships/font" Target="fonts/Urbanis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4a6f1be38_0_1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f4a6f1be38_0_1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4a6f1be38_0_1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f4a6f1be38_0_1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4a6f1be38_0_1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f4a6f1be38_0_1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4c7560dc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f4c7560dc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4c7560dc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f4c7560dc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4c7560dc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f4c7560dc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4a6f1be38_0_1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f4a6f1be38_0_1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4a6f1be38_0_1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f4a6f1be38_0_1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4a6f1be38_0_1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f4a6f1be38_0_1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f4c7560dc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f4c7560dc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4c7560dc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f4c7560dc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pmc.ncbi.nlm.nih.gov/articles/PMC8511787/pdf/rspa.2021.0097.pdf" TargetMode="External"/><Relationship Id="rId4" Type="http://schemas.openxmlformats.org/officeDocument/2006/relationships/hyperlink" Target="https://grizzle.robotics.umich.edu/files/MoraalGrizzle1995TAC.pdf" TargetMode="External"/><Relationship Id="rId5" Type="http://schemas.openxmlformats.org/officeDocument/2006/relationships/hyperlink" Target="https://en.wikipedia.org/wiki/Stein%27s_lemma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 txBox="1"/>
          <p:nvPr/>
        </p:nvSpPr>
        <p:spPr>
          <a:xfrm>
            <a:off x="228600" y="1367550"/>
            <a:ext cx="83544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Background Information:</a:t>
            </a:r>
            <a:endParaRPr b="1"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https://pmc.ncbi.nlm.nih.gov/articles/PMC8511787/pdf/rspa.2021.0097.pdf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HAVOK  - forcing linear model on a nonlinear system - does linear model retain enough information for state reconstruction?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https://grizzle.robotics.umich.edu/files/MoraalGrizzle1995TAC.pdf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https://en.wikipedia.org/wiki/Stein%27s_lemma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Stein’s Lemma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- formula for the covariance of one random variable with the value of a function of another, two random variables are jointly normally distributed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statistical correlation matrix Cov(g(x), x) = average Jacobian smoothed out over a Gaussian distribution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*If a random vector is jointly Gaussian, then zero covariance implies independence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J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acobian</a:t>
            </a: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local/deterministic test, differential notion of observability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Covariance</a:t>
            </a: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global/statistical test, detects linear dependence, can fail due to symmetry.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1"/>
          <p:cNvSpPr txBox="1"/>
          <p:nvPr/>
        </p:nvSpPr>
        <p:spPr>
          <a:xfrm>
            <a:off x="181650" y="228600"/>
            <a:ext cx="868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Trends of cross-covariance, connections with discrete time nonlinear observability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2"/>
          <p:cNvSpPr txBox="1"/>
          <p:nvPr/>
        </p:nvSpPr>
        <p:spPr>
          <a:xfrm>
            <a:off x="476250" y="187800"/>
            <a:ext cx="8029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For each case: 		X = [y, z] ~ N (0,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 𝝈</a:t>
            </a:r>
            <a:r>
              <a:rPr baseline="-25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1,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0], [ 0, 𝝈</a:t>
            </a:r>
            <a:r>
              <a:rPr baseline="-25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2,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]]</a:t>
            </a:r>
            <a:r>
              <a:rPr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4" name="Google Shape;444;p42"/>
          <p:cNvSpPr txBox="1"/>
          <p:nvPr/>
        </p:nvSpPr>
        <p:spPr>
          <a:xfrm>
            <a:off x="546150" y="797400"/>
            <a:ext cx="6464400" cy="4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*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variables are independent, E[y], E[z] = 0, multivariate Gaussian variables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Derive statistical correlation C, the cross-covariance matrix: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 = [[cov(g</a:t>
            </a:r>
            <a:r>
              <a:rPr baseline="-25000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1, 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y) , 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cov(g</a:t>
            </a:r>
            <a:r>
              <a:rPr baseline="-25000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1, 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z)] 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[cov(g</a:t>
            </a:r>
            <a:r>
              <a:rPr baseline="-25000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2, 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y) , cov(g</a:t>
            </a:r>
            <a:r>
              <a:rPr baseline="-25000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2, 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z)]]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Verify with Stein’s Lemma: 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*proved same in all cases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 = E[g(x)x</a:t>
            </a:r>
            <a:r>
              <a:rPr baseline="30000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]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Jacobian: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Dg = [[∂g</a:t>
            </a:r>
            <a:r>
              <a:rPr baseline="-25000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1,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/∂y , ∂g</a:t>
            </a:r>
            <a:r>
              <a:rPr baseline="-25000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1,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/∂z ] 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   [∂g</a:t>
            </a:r>
            <a:r>
              <a:rPr baseline="-25000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2,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/∂y , ∂g</a:t>
            </a:r>
            <a:r>
              <a:rPr baseline="-25000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2,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/∂z ]]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3"/>
          <p:cNvSpPr txBox="1"/>
          <p:nvPr/>
        </p:nvSpPr>
        <p:spPr>
          <a:xfrm>
            <a:off x="475350" y="270000"/>
            <a:ext cx="5175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Case 1:</a:t>
            </a: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Observable - Full Rank</a:t>
            </a:r>
            <a:endParaRPr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0" name="Google Shape;450;p43"/>
          <p:cNvSpPr txBox="1"/>
          <p:nvPr/>
        </p:nvSpPr>
        <p:spPr>
          <a:xfrm>
            <a:off x="566700" y="997075"/>
            <a:ext cx="78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1" name="Google Shape;451;p43"/>
          <p:cNvSpPr txBox="1"/>
          <p:nvPr/>
        </p:nvSpPr>
        <p:spPr>
          <a:xfrm>
            <a:off x="5381800" y="316200"/>
            <a:ext cx="517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g(x) =  [y+ z</a:t>
            </a:r>
            <a:r>
              <a:rPr b="1" baseline="30000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1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z]</a:t>
            </a:r>
            <a:endParaRPr b="1"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2" name="Google Shape;452;p43"/>
          <p:cNvSpPr txBox="1"/>
          <p:nvPr/>
        </p:nvSpPr>
        <p:spPr>
          <a:xfrm>
            <a:off x="566700" y="923975"/>
            <a:ext cx="42243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 =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[[cov(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y+ z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y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 , cov(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y+ z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</a:t>
            </a:r>
            <a:r>
              <a:rPr baseline="-25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z)] 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[cov(z, y) , cov(z, z)]]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</a:t>
            </a:r>
            <a:r>
              <a:rPr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= </a:t>
            </a: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[[𝝈</a:t>
            </a:r>
            <a:r>
              <a:rPr b="1" baseline="-25000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1,</a:t>
            </a:r>
            <a:r>
              <a:rPr b="1" baseline="30000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0] </a:t>
            </a:r>
            <a:endParaRPr b="1"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	[0 , 𝝈</a:t>
            </a:r>
            <a:r>
              <a:rPr b="1" baseline="-25000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2,</a:t>
            </a:r>
            <a:r>
              <a:rPr b="1" baseline="30000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]]</a:t>
            </a:r>
            <a:endParaRPr b="1"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* exactly the original covariance matrix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Dg =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[[∂(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y+ z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)/∂y , ∂(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y+ z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)/∂z ] 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  [∂z/∂y , ∂z</a:t>
            </a:r>
            <a:r>
              <a:rPr baseline="-25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/∂z ]]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=</a:t>
            </a:r>
            <a:r>
              <a:rPr b="1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[[1, 2z] 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	  [0 ,1]]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43"/>
          <p:cNvSpPr txBox="1"/>
          <p:nvPr/>
        </p:nvSpPr>
        <p:spPr>
          <a:xfrm>
            <a:off x="4986300" y="1894500"/>
            <a:ext cx="4224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det(Dg) = 1 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or all points* 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Full rank - no singularities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4"/>
          <p:cNvSpPr txBox="1"/>
          <p:nvPr/>
        </p:nvSpPr>
        <p:spPr>
          <a:xfrm>
            <a:off x="475350" y="270000"/>
            <a:ext cx="5175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Case 2a:</a:t>
            </a: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Weakly Observable</a:t>
            </a:r>
            <a:endParaRPr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9" name="Google Shape;459;p44"/>
          <p:cNvSpPr txBox="1"/>
          <p:nvPr/>
        </p:nvSpPr>
        <p:spPr>
          <a:xfrm>
            <a:off x="566700" y="997075"/>
            <a:ext cx="78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0" name="Google Shape;460;p44"/>
          <p:cNvSpPr txBox="1"/>
          <p:nvPr/>
        </p:nvSpPr>
        <p:spPr>
          <a:xfrm>
            <a:off x="5381800" y="316200"/>
            <a:ext cx="517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g(x) =  [y, </a:t>
            </a:r>
            <a:r>
              <a:rPr b="1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</a:t>
            </a:r>
            <a:r>
              <a:rPr b="1" baseline="30000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1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]</a:t>
            </a:r>
            <a:endParaRPr b="1"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1" name="Google Shape;461;p44"/>
          <p:cNvSpPr txBox="1"/>
          <p:nvPr/>
        </p:nvSpPr>
        <p:spPr>
          <a:xfrm>
            <a:off x="566700" y="923975"/>
            <a:ext cx="42243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 =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[[cov(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y, y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 , cov(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y,</a:t>
            </a:r>
            <a:r>
              <a:rPr baseline="-25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z)] 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[cov(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y) , cov(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z)]]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</a:t>
            </a:r>
            <a:r>
              <a:rPr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= </a:t>
            </a: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[[𝝈</a:t>
            </a:r>
            <a:r>
              <a:rPr b="1" baseline="-25000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1,</a:t>
            </a:r>
            <a:r>
              <a:rPr b="1" baseline="30000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0] </a:t>
            </a:r>
            <a:endParaRPr b="1"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	[0 , 0]]</a:t>
            </a:r>
            <a:endParaRPr b="1"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Dg =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[[∂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/∂y , ∂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/∂z ] 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  [∂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/∂y , ∂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aseline="-25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/∂z ]]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=</a:t>
            </a:r>
            <a:r>
              <a:rPr b="1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[[1, 0] 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	  [0 , 2z]]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44"/>
          <p:cNvSpPr txBox="1"/>
          <p:nvPr/>
        </p:nvSpPr>
        <p:spPr>
          <a:xfrm>
            <a:off x="4919700" y="1895400"/>
            <a:ext cx="4224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det(Dg) = 2z 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det(Dg) = 0 at z =0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5"/>
          <p:cNvSpPr txBox="1"/>
          <p:nvPr/>
        </p:nvSpPr>
        <p:spPr>
          <a:xfrm>
            <a:off x="475350" y="270000"/>
            <a:ext cx="5175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Case 2b:</a:t>
            </a: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Weakly Observable</a:t>
            </a:r>
            <a:endParaRPr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8" name="Google Shape;468;p45"/>
          <p:cNvSpPr txBox="1"/>
          <p:nvPr/>
        </p:nvSpPr>
        <p:spPr>
          <a:xfrm>
            <a:off x="566700" y="997075"/>
            <a:ext cx="78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9" name="Google Shape;469;p45"/>
          <p:cNvSpPr txBox="1"/>
          <p:nvPr/>
        </p:nvSpPr>
        <p:spPr>
          <a:xfrm>
            <a:off x="5381800" y="316200"/>
            <a:ext cx="517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g(x) =  [y, z</a:t>
            </a:r>
            <a:r>
              <a:rPr b="1" baseline="30000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b="1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]</a:t>
            </a:r>
            <a:endParaRPr b="1"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0" name="Google Shape;470;p45"/>
          <p:cNvSpPr txBox="1"/>
          <p:nvPr/>
        </p:nvSpPr>
        <p:spPr>
          <a:xfrm>
            <a:off x="566700" y="923975"/>
            <a:ext cx="4224300" cy="4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 =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[[cov(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y, y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 , cov(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y,</a:t>
            </a:r>
            <a:r>
              <a:rPr baseline="-25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z)] 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[cov(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y) , cov(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z)]]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</a:t>
            </a:r>
            <a:r>
              <a:rPr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= </a:t>
            </a: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[[𝝈</a:t>
            </a:r>
            <a:r>
              <a:rPr b="1" baseline="-25000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1,</a:t>
            </a:r>
            <a:r>
              <a:rPr b="1" baseline="30000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0] </a:t>
            </a:r>
            <a:endParaRPr b="1"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	[0 , 3</a:t>
            </a: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𝝈</a:t>
            </a:r>
            <a:r>
              <a:rPr b="1" baseline="-25000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2,</a:t>
            </a:r>
            <a:r>
              <a:rPr b="1" baseline="30000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]]</a:t>
            </a:r>
            <a:endParaRPr b="1"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* 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Cov(X,X</a:t>
            </a:r>
            <a:r>
              <a:rPr baseline="30000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)=E[X</a:t>
            </a:r>
            <a:r>
              <a:rPr baseline="30000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]-E[X]E[X</a:t>
            </a:r>
            <a:r>
              <a:rPr baseline="30000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]) = 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E[X</a:t>
            </a:r>
            <a:r>
              <a:rPr baseline="30000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] = 3𝝈</a:t>
            </a:r>
            <a:r>
              <a:rPr baseline="-25000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aseline="30000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endParaRPr baseline="30000"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Dg =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[[∂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/∂y , ∂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/∂z ] 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  [∂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/∂y , ∂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baseline="-25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/∂z ]]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=</a:t>
            </a:r>
            <a:r>
              <a:rPr b="1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[[1, 0] 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	  [0, 3z</a:t>
            </a:r>
            <a:r>
              <a:rPr b="1" baseline="30000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]]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1" name="Google Shape;471;p45"/>
          <p:cNvSpPr txBox="1"/>
          <p:nvPr/>
        </p:nvSpPr>
        <p:spPr>
          <a:xfrm>
            <a:off x="4919700" y="1895400"/>
            <a:ext cx="4224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det(Dg) = 3z</a:t>
            </a:r>
            <a:r>
              <a:rPr baseline="30000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det(Dg) = 0 at z =0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6"/>
          <p:cNvSpPr txBox="1"/>
          <p:nvPr/>
        </p:nvSpPr>
        <p:spPr>
          <a:xfrm>
            <a:off x="475350" y="270000"/>
            <a:ext cx="5175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Case 3:</a:t>
            </a: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Not observable </a:t>
            </a:r>
            <a:endParaRPr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7" name="Google Shape;477;p46"/>
          <p:cNvSpPr txBox="1"/>
          <p:nvPr/>
        </p:nvSpPr>
        <p:spPr>
          <a:xfrm>
            <a:off x="566700" y="997075"/>
            <a:ext cx="78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8" name="Google Shape;478;p46"/>
          <p:cNvSpPr txBox="1"/>
          <p:nvPr/>
        </p:nvSpPr>
        <p:spPr>
          <a:xfrm>
            <a:off x="5381800" y="316200"/>
            <a:ext cx="517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g(x) =  [y, y</a:t>
            </a:r>
            <a:r>
              <a:rPr b="1" baseline="30000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b="1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]</a:t>
            </a:r>
            <a:endParaRPr b="1"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9" name="Google Shape;479;p46"/>
          <p:cNvSpPr txBox="1"/>
          <p:nvPr/>
        </p:nvSpPr>
        <p:spPr>
          <a:xfrm>
            <a:off x="566700" y="923975"/>
            <a:ext cx="42243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 =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[[cov(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y, y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 , cov(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y,</a:t>
            </a:r>
            <a:r>
              <a:rPr baseline="-25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z)] 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[cov(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</a:t>
            </a:r>
            <a:r>
              <a:rPr baseline="30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y) , cov(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</a:t>
            </a:r>
            <a:r>
              <a:rPr baseline="30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z)]]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</a:t>
            </a:r>
            <a:r>
              <a:rPr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= </a:t>
            </a: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[[𝝈</a:t>
            </a:r>
            <a:r>
              <a:rPr b="1" baseline="-25000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1,</a:t>
            </a:r>
            <a:r>
              <a:rPr b="1" baseline="30000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0] </a:t>
            </a:r>
            <a:endParaRPr b="1"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	[3</a:t>
            </a: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𝝈</a:t>
            </a:r>
            <a:r>
              <a:rPr b="1" baseline="-25000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1,</a:t>
            </a:r>
            <a:r>
              <a:rPr b="1" baseline="30000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, 0]]</a:t>
            </a:r>
            <a:endParaRPr b="1"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Dg =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[[∂y/∂y , ∂y/∂z ] 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  [∂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</a:t>
            </a:r>
            <a:r>
              <a:rPr baseline="30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baseline="-25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/∂y , ∂y</a:t>
            </a:r>
            <a:r>
              <a:rPr baseline="30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baseline="-25000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/∂z ]]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=</a:t>
            </a:r>
            <a:r>
              <a:rPr b="1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[[1, 0] 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	  [3y</a:t>
            </a:r>
            <a:r>
              <a:rPr b="1" baseline="30000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,0]]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0" name="Google Shape;480;p46"/>
          <p:cNvSpPr txBox="1"/>
          <p:nvPr/>
        </p:nvSpPr>
        <p:spPr>
          <a:xfrm>
            <a:off x="5024400" y="1366375"/>
            <a:ext cx="4224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det(Dg) = 0 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For all points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7"/>
          <p:cNvSpPr txBox="1"/>
          <p:nvPr/>
        </p:nvSpPr>
        <p:spPr>
          <a:xfrm>
            <a:off x="0" y="0"/>
            <a:ext cx="3378600" cy="4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np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matplotlib.pyplot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# derived on paper</a:t>
            </a:r>
            <a:endParaRPr sz="10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" sz="1000">
                <a:solidFill>
                  <a:srgbClr val="56A8F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C_case1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(s1, s2):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np.array([[s1**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[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    s2**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]])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" sz="1000">
                <a:solidFill>
                  <a:srgbClr val="56A8F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C_case2a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(s1, </a:t>
            </a:r>
            <a:r>
              <a:rPr lang="en" sz="1000">
                <a:solidFill>
                  <a:srgbClr val="6F737A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s2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# g = (y, z^2)</a:t>
            </a:r>
            <a:endParaRPr sz="10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np.array([[s1**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[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    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]])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" sz="1000">
                <a:solidFill>
                  <a:srgbClr val="56A8F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C_case2b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(s1, s2):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# g = (y, z^3)</a:t>
            </a:r>
            <a:endParaRPr sz="10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np.array([[s1**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[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    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*s2**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]])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" sz="1000">
                <a:solidFill>
                  <a:srgbClr val="56A8F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C_case3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(s1, </a:t>
            </a:r>
            <a:r>
              <a:rPr lang="en" sz="1000">
                <a:solidFill>
                  <a:srgbClr val="6F737A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s2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# g = (y, y^3)</a:t>
            </a:r>
            <a:endParaRPr sz="10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np.array([[s1**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   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[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*s1**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]])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cases = {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"Case 1 (observable):"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C_case1,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"Case 2a (weakly observable):"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C_case2a,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"Case 2b (weakly observable):"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C_case2b,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"Case 3 (not observable):"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: C_case3,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6" name="Google Shape;486;p47"/>
          <p:cNvSpPr txBox="1"/>
          <p:nvPr/>
        </p:nvSpPr>
        <p:spPr>
          <a:xfrm>
            <a:off x="3720000" y="611050"/>
            <a:ext cx="51954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A7E85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# vary the variance and loop</a:t>
            </a:r>
            <a:endParaRPr sz="1000">
              <a:solidFill>
                <a:srgbClr val="7A7E85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s1_fixed = 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1.0</a:t>
            </a:r>
            <a:endParaRPr sz="1000">
              <a:solidFill>
                <a:srgbClr val="2AACB8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sigma2 = np.linspace(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0.05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3.0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fig, axes = plt.subplots(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AA492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figsize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=(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axes = axes.ravel()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ax, (name, Cfun)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" sz="1000">
                <a:solidFill>
                  <a:srgbClr val="8888C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(axes, cases.items()):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sv_max, sv_min, cond = [], [], []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s2 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sigma2: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C = Cfun(s1_fixed, s2)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svals = np.linalg.svd(C, </a:t>
            </a:r>
            <a:r>
              <a:rPr lang="en" sz="1000">
                <a:solidFill>
                  <a:srgbClr val="AA492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compute_uv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CF8E6D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sv_max.append(svals[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    sv_min.append(svals[-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ax.plot(sigma2, sv_max, </a:t>
            </a:r>
            <a:r>
              <a:rPr lang="en" sz="1000">
                <a:solidFill>
                  <a:srgbClr val="AA492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r"$\sigma_{\max}(C)$"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ax.plot(sigma2, sv_min, </a:t>
            </a:r>
            <a:r>
              <a:rPr lang="en" sz="1000">
                <a:solidFill>
                  <a:srgbClr val="AA492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r"$\sigma_{\min}(C)$"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ax.set_title(name, </a:t>
            </a:r>
            <a:r>
              <a:rPr lang="en" sz="1000">
                <a:solidFill>
                  <a:srgbClr val="AA492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fontsize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ax.set_xlabel(</a:t>
            </a:r>
            <a:r>
              <a:rPr lang="en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r"$\sigma_2$"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ax.set_ylabel(</a:t>
            </a:r>
            <a:r>
              <a:rPr lang="en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"singular value"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ax.legend(</a:t>
            </a:r>
            <a:r>
              <a:rPr lang="en" sz="1000">
                <a:solidFill>
                  <a:srgbClr val="AA492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fontsize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   ax.grid(</a:t>
            </a:r>
            <a:r>
              <a:rPr lang="en" sz="1000">
                <a:solidFill>
                  <a:srgbClr val="AA492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alpha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0.3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plt.tight_layout()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plt.savefig(</a:t>
            </a:r>
            <a:r>
              <a:rPr lang="en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"cross-covariance.png"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AA492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dpi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2AACB8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150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AA4926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bbox_inches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6AAB73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"tight"</a:t>
            </a: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CBEC4"/>
                </a:solidFill>
                <a:highlight>
                  <a:srgbClr val="1E1F22"/>
                </a:highlight>
                <a:latin typeface="Courier New"/>
                <a:ea typeface="Courier New"/>
                <a:cs typeface="Courier New"/>
                <a:sym typeface="Courier New"/>
              </a:rPr>
              <a:t>plt.show()</a:t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7" name="Google Shape;487;p47"/>
          <p:cNvSpPr txBox="1"/>
          <p:nvPr/>
        </p:nvSpPr>
        <p:spPr>
          <a:xfrm>
            <a:off x="3401400" y="122025"/>
            <a:ext cx="517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Fix one standard deviation, sweep the other and assess singular values for each case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48" title="Cross-co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675" y="0"/>
            <a:ext cx="707231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8"/>
          <p:cNvSpPr txBox="1"/>
          <p:nvPr/>
        </p:nvSpPr>
        <p:spPr>
          <a:xfrm>
            <a:off x="0" y="170625"/>
            <a:ext cx="2138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Blue line is the maximum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singular value as the variance changes, </a:t>
            </a: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orange line is the minimum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singular value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9"/>
          <p:cNvSpPr txBox="1"/>
          <p:nvPr/>
        </p:nvSpPr>
        <p:spPr>
          <a:xfrm>
            <a:off x="0" y="0"/>
            <a:ext cx="91440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Conclusions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AutoNum type="arabicPeriod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When C is full rank and the Jacobian determinant ≠ 0: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erturbations to the state in every direction produce a detectable (linearly independent) change in the output at that point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SVD of C gives you a statistical version of the rank condition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Singular value going to 0: direction along which the output is (on average) statistically insensitive to a perturbing x - an unobservable direction.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AutoNum type="arabicPeriod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When C is not full rank and the Jacobian 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≠ 0: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System is weakly observable - Gaussian-averaged correlation matrix reports rank deficiency anyway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Fails to detect observability that genuinely exists, because the correlation is a </a:t>
            </a: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global 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average, and the averaging washes out information the pointwise Jacobian still carries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When Jacobian does = 0: system is locally unobservable at that specific state - pointwise condition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AutoNum type="arabicPeriod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When C is not full rank and the Jacobian always = 0: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Unobservability: the Jacobian is singular everywhere, not just at an isolated point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Both the deterministic and statistical tests correctly flag this as unobservable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0"/>
          <p:cNvSpPr txBox="1"/>
          <p:nvPr/>
        </p:nvSpPr>
        <p:spPr>
          <a:xfrm>
            <a:off x="33300" y="-91050"/>
            <a:ext cx="90774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4. </a:t>
            </a: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Cross-covariance only measures linear association 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 information is lost when g(x)x</a:t>
            </a:r>
            <a:r>
              <a:rPr baseline="30000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 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is an odd power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 Case 2b, cov(z</a:t>
            </a:r>
            <a:r>
              <a:rPr baseline="30000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z) = E[z</a:t>
            </a:r>
            <a:r>
              <a:rPr baseline="30000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]  = 3𝝈</a:t>
            </a:r>
            <a:r>
              <a:rPr baseline="-25000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2,</a:t>
            </a:r>
            <a:r>
              <a:rPr baseline="30000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 Because this moment is an even power, the association is “picked up” by the covariance matrix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 Case 2a, cov(z²,z) = E[z³] = 0, since this is </a:t>
            </a: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an odd moment under a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symmetric Gaussian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 This leads the matrix to have deficient rank and information about the z variable is lost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Exposes the limitation of linear-correlation-based observability testing: whether a moment is odd/asymmetric vs. even/symmetric determines whether cross-covariance will correctly flag a weakly-observable case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5. Relationship between minimum singular value and system observability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σmin⁡(C) flat at zero across all variances (Cases 2a, 3) is a structural unobservability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Shrinking to zero - well-conditioned system becoming ill-conditioned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Tracking how σmin⁡(C) varies with the input variance: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Value that stays at zero regardless of variance signals a variance-independent loss of information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○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σmin⁡(C) only approaches zero as the Gaussian variance approaches zero (Case 1): loss of rank is caused by insufficient data variation, not by a loss of observability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"/>
          <p:cNvSpPr txBox="1"/>
          <p:nvPr/>
        </p:nvSpPr>
        <p:spPr>
          <a:xfrm>
            <a:off x="414300" y="565275"/>
            <a:ext cx="83154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σ min⁡(C) correctly detects unobservability (Case 3) and reflects singularities as observable (Case 2b), but it can produce false negatives when the nonlinearity has an odd-order derivative structure that cancels under a</a:t>
            </a: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symmetric input distribution 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(Case 2a).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This is the limitation of linear correlation that motivates a shift to distance correlation, which is sensitive to global, nonlinear dependence and does not suffer from even/odd moment cancellation.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b="1"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</a:t>
            </a:r>
            <a:r>
              <a:rPr b="1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iscrete-time analog of stacking Lie derivatives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- Replace linear cross-covariance with distance-correlation on a time delay embedding 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●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artial distance correlation to determine whether successive delay coordinates contribute new observability information.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